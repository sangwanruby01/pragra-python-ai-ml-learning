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Arial MT Pro" panose="020B0604020202020204" charset="0"/>
      <p:regular r:id="rId18"/>
    </p:embeddedFont>
    <p:embeddedFont>
      <p:font typeface="Inter" panose="020B0502030000000004" pitchFamily="34" charset="0"/>
      <p:regular r:id="rId19"/>
      <p:bold r:id="rId20"/>
    </p:embeddedFont>
    <p:embeddedFont>
      <p:font typeface="Montserrat Bold" panose="020B0604020202020204" charset="0"/>
      <p:regular r:id="rId21"/>
    </p:embeddedFont>
    <p:embeddedFont>
      <p:font typeface="Inter Bold" panose="020B0502030000000004" pitchFamily="34" charset="0"/>
      <p:regular r:id="rId22"/>
      <p:bold r:id="rId23"/>
    </p:embeddedFont>
    <p:embeddedFont>
      <p:font typeface="Inter Bold Italics"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8298"/>
    <a:srgbClr val="2E7D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8" d="100"/>
          <a:sy n="48" d="100"/>
        </p:scale>
        <p:origin x="28"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820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32.sv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066518" y="2218425"/>
            <a:ext cx="7025997" cy="5582474"/>
          </a:xfrm>
          <a:custGeom>
            <a:avLst/>
            <a:gdLst/>
            <a:ahLst/>
            <a:cxnLst/>
            <a:rect l="l" t="t" r="r" b="b"/>
            <a:pathLst>
              <a:path w="7025997" h="5582474">
                <a:moveTo>
                  <a:pt x="0" y="0"/>
                </a:moveTo>
                <a:lnTo>
                  <a:pt x="7025997" y="0"/>
                </a:lnTo>
                <a:lnTo>
                  <a:pt x="7025997" y="5582474"/>
                </a:lnTo>
                <a:lnTo>
                  <a:pt x="0" y="558247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749417" y="1702144"/>
            <a:ext cx="21454402" cy="5123991"/>
          </a:xfrm>
          <a:prstGeom prst="rect">
            <a:avLst/>
          </a:prstGeom>
        </p:spPr>
        <p:txBody>
          <a:bodyPr lIns="0" tIns="0" rIns="0" bIns="0" rtlCol="0" anchor="t">
            <a:spAutoFit/>
          </a:bodyPr>
          <a:lstStyle/>
          <a:p>
            <a:pPr algn="l">
              <a:lnSpc>
                <a:spcPts val="13673"/>
              </a:lnSpc>
            </a:pPr>
            <a:r>
              <a:rPr lang="en-US" sz="9766" b="1" dirty="0">
                <a:solidFill>
                  <a:srgbClr val="1F1F1F"/>
                </a:solidFill>
                <a:latin typeface="Montserrat Bold"/>
                <a:ea typeface="Montserrat Bold"/>
                <a:cs typeface="Montserrat Bold"/>
                <a:sym typeface="Montserrat Bold"/>
              </a:rPr>
              <a:t>Life Expectancy </a:t>
            </a:r>
          </a:p>
          <a:p>
            <a:pPr algn="l">
              <a:lnSpc>
                <a:spcPts val="13673"/>
              </a:lnSpc>
            </a:pPr>
            <a:r>
              <a:rPr lang="en-US" sz="9766" b="1" dirty="0">
                <a:solidFill>
                  <a:srgbClr val="1F1F1F"/>
                </a:solidFill>
                <a:latin typeface="Montserrat Bold"/>
                <a:ea typeface="Montserrat Bold"/>
                <a:cs typeface="Montserrat Bold"/>
                <a:sym typeface="Montserrat Bold"/>
              </a:rPr>
              <a:t>    Prediction</a:t>
            </a:r>
          </a:p>
          <a:p>
            <a:pPr algn="l">
              <a:lnSpc>
                <a:spcPts val="13673"/>
              </a:lnSpc>
            </a:pPr>
            <a:endParaRPr lang="en-US" sz="9766" b="1" dirty="0">
              <a:solidFill>
                <a:srgbClr val="1F1F1F"/>
              </a:solidFill>
              <a:latin typeface="Montserrat Bold"/>
              <a:ea typeface="Montserrat Bold"/>
              <a:cs typeface="Montserrat Bold"/>
              <a:sym typeface="Montserrat Bold"/>
            </a:endParaRPr>
          </a:p>
        </p:txBody>
      </p:sp>
      <p:sp>
        <p:nvSpPr>
          <p:cNvPr id="4" name="TextBox 4"/>
          <p:cNvSpPr txBox="1"/>
          <p:nvPr/>
        </p:nvSpPr>
        <p:spPr>
          <a:xfrm>
            <a:off x="2674054" y="5051960"/>
            <a:ext cx="9389750" cy="1774174"/>
          </a:xfrm>
          <a:prstGeom prst="rect">
            <a:avLst/>
          </a:prstGeom>
        </p:spPr>
        <p:txBody>
          <a:bodyPr lIns="0" tIns="0" rIns="0" bIns="0" rtlCol="0" anchor="t">
            <a:spAutoFit/>
          </a:bodyPr>
          <a:lstStyle/>
          <a:p>
            <a:pPr algn="l">
              <a:lnSpc>
                <a:spcPts val="14560"/>
              </a:lnSpc>
            </a:pPr>
            <a:r>
              <a:rPr lang="en-US" sz="10400" b="1" dirty="0">
                <a:solidFill>
                  <a:srgbClr val="308298"/>
                </a:solidFill>
                <a:latin typeface="Montserrat Bold"/>
                <a:ea typeface="Montserrat Bold"/>
                <a:cs typeface="Montserrat Bold"/>
                <a:sym typeface="Montserrat Bold"/>
              </a:rPr>
              <a:t>Analysis</a:t>
            </a:r>
          </a:p>
        </p:txBody>
      </p:sp>
      <p:sp>
        <p:nvSpPr>
          <p:cNvPr id="5" name="TextBox 5"/>
          <p:cNvSpPr txBox="1"/>
          <p:nvPr/>
        </p:nvSpPr>
        <p:spPr>
          <a:xfrm>
            <a:off x="749417" y="7266229"/>
            <a:ext cx="11653710" cy="1012190"/>
          </a:xfrm>
          <a:prstGeom prst="rect">
            <a:avLst/>
          </a:prstGeom>
        </p:spPr>
        <p:txBody>
          <a:bodyPr lIns="0" tIns="0" rIns="0" bIns="0" rtlCol="0" anchor="t">
            <a:spAutoFit/>
          </a:bodyPr>
          <a:lstStyle/>
          <a:p>
            <a:pPr algn="l">
              <a:lnSpc>
                <a:spcPts val="4059"/>
              </a:lnSpc>
            </a:pPr>
            <a:r>
              <a:rPr lang="en-US" sz="2899" b="1" i="1">
                <a:solidFill>
                  <a:srgbClr val="6B7280"/>
                </a:solidFill>
                <a:latin typeface="Inter Bold Italics"/>
                <a:ea typeface="Inter Bold Italics"/>
                <a:cs typeface="Inter Bold Italics"/>
                <a:sym typeface="Inter Bold Italics"/>
              </a:rPr>
              <a:t>A Data Science study on what helps people live longer</a:t>
            </a:r>
          </a:p>
          <a:p>
            <a:pPr algn="l">
              <a:lnSpc>
                <a:spcPts val="4059"/>
              </a:lnSpc>
              <a:spcBef>
                <a:spcPct val="0"/>
              </a:spcBef>
            </a:pPr>
            <a:endParaRPr lang="en-US" sz="2899" b="1" i="1">
              <a:solidFill>
                <a:srgbClr val="6B7280"/>
              </a:solidFill>
              <a:latin typeface="Inter Bold Italics"/>
              <a:ea typeface="Inter Bold Italics"/>
              <a:cs typeface="Inter Bold Italics"/>
              <a:sym typeface="Inter Bold Italics"/>
            </a:endParaRPr>
          </a:p>
        </p:txBody>
      </p:sp>
      <p:sp>
        <p:nvSpPr>
          <p:cNvPr id="7" name="Rectangle 6"/>
          <p:cNvSpPr/>
          <p:nvPr/>
        </p:nvSpPr>
        <p:spPr>
          <a:xfrm>
            <a:off x="0" y="0"/>
            <a:ext cx="18288000" cy="10287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570965" y="712657"/>
            <a:ext cx="4823073" cy="4244304"/>
          </a:xfrm>
          <a:custGeom>
            <a:avLst/>
            <a:gdLst/>
            <a:ahLst/>
            <a:cxnLst/>
            <a:rect l="l" t="t" r="r" b="b"/>
            <a:pathLst>
              <a:path w="4823073" h="4244304">
                <a:moveTo>
                  <a:pt x="0" y="0"/>
                </a:moveTo>
                <a:lnTo>
                  <a:pt x="4823073" y="0"/>
                </a:lnTo>
                <a:lnTo>
                  <a:pt x="4823073" y="4244305"/>
                </a:lnTo>
                <a:lnTo>
                  <a:pt x="0" y="424430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1926008" y="847725"/>
            <a:ext cx="8312264" cy="1698626"/>
          </a:xfrm>
          <a:prstGeom prst="rect">
            <a:avLst/>
          </a:prstGeom>
        </p:spPr>
        <p:txBody>
          <a:bodyPr lIns="0" tIns="0" rIns="0" bIns="0" rtlCol="0" anchor="t">
            <a:spAutoFit/>
          </a:bodyPr>
          <a:lstStyle/>
          <a:p>
            <a:pPr algn="l">
              <a:lnSpc>
                <a:spcPts val="13999"/>
              </a:lnSpc>
            </a:pPr>
            <a:r>
              <a:rPr lang="en-US" sz="9999" b="1">
                <a:solidFill>
                  <a:srgbClr val="1F1F1F"/>
                </a:solidFill>
                <a:latin typeface="Montserrat Bold"/>
                <a:ea typeface="Montserrat Bold"/>
                <a:cs typeface="Montserrat Bold"/>
                <a:sym typeface="Montserrat Bold"/>
              </a:rPr>
              <a:t>Project</a:t>
            </a:r>
          </a:p>
        </p:txBody>
      </p:sp>
      <p:sp>
        <p:nvSpPr>
          <p:cNvPr id="4" name="TextBox 4"/>
          <p:cNvSpPr txBox="1"/>
          <p:nvPr/>
        </p:nvSpPr>
        <p:spPr>
          <a:xfrm>
            <a:off x="1509401" y="2365376"/>
            <a:ext cx="7099375" cy="1698626"/>
          </a:xfrm>
          <a:prstGeom prst="rect">
            <a:avLst/>
          </a:prstGeom>
        </p:spPr>
        <p:txBody>
          <a:bodyPr lIns="0" tIns="0" rIns="0" bIns="0" rtlCol="0" anchor="t">
            <a:spAutoFit/>
          </a:bodyPr>
          <a:lstStyle/>
          <a:p>
            <a:pPr algn="l">
              <a:lnSpc>
                <a:spcPts val="13999"/>
              </a:lnSpc>
            </a:pPr>
            <a:r>
              <a:rPr lang="en-US" sz="9999" b="1" dirty="0">
                <a:solidFill>
                  <a:srgbClr val="2E7D92"/>
                </a:solidFill>
                <a:latin typeface="Montserrat Bold"/>
                <a:ea typeface="Montserrat Bold"/>
                <a:cs typeface="Montserrat Bold"/>
                <a:sym typeface="Montserrat Bold"/>
              </a:rPr>
              <a:t>Overview</a:t>
            </a:r>
          </a:p>
        </p:txBody>
      </p:sp>
      <p:sp>
        <p:nvSpPr>
          <p:cNvPr id="5" name="TextBox 5"/>
          <p:cNvSpPr txBox="1"/>
          <p:nvPr/>
        </p:nvSpPr>
        <p:spPr>
          <a:xfrm>
            <a:off x="609600" y="5448300"/>
            <a:ext cx="16690910" cy="3647868"/>
          </a:xfrm>
          <a:prstGeom prst="rect">
            <a:avLst/>
          </a:prstGeom>
        </p:spPr>
        <p:txBody>
          <a:bodyPr lIns="0" tIns="0" rIns="0" bIns="0" rtlCol="0" anchor="t">
            <a:spAutoFit/>
          </a:bodyPr>
          <a:lstStyle/>
          <a:p>
            <a:pPr algn="l">
              <a:lnSpc>
                <a:spcPts val="4736"/>
              </a:lnSpc>
            </a:pPr>
            <a:r>
              <a:rPr lang="en-US" sz="3383">
                <a:solidFill>
                  <a:srgbClr val="6B7280"/>
                </a:solidFill>
                <a:latin typeface="Arial MT Pro"/>
                <a:ea typeface="Arial MT Pro"/>
                <a:cs typeface="Arial MT Pro"/>
                <a:sym typeface="Arial MT Pro"/>
              </a:rPr>
              <a:t>This project develops a machine learning model to analyze the key health, economic, and social factors that influence life expectancy across countries. It examines how indicators such as healthcare access, immunization, education, and income levels affect longevity worldwide.</a:t>
            </a:r>
          </a:p>
          <a:p>
            <a:pPr algn="l">
              <a:lnSpc>
                <a:spcPts val="4736"/>
              </a:lnSpc>
              <a:spcBef>
                <a:spcPct val="0"/>
              </a:spcBef>
            </a:pPr>
            <a:r>
              <a:rPr lang="en-US" sz="3383">
                <a:solidFill>
                  <a:srgbClr val="6B7280"/>
                </a:solidFill>
                <a:latin typeface="Arial MT Pro"/>
                <a:ea typeface="Arial MT Pro"/>
                <a:cs typeface="Arial MT Pro"/>
                <a:sym typeface="Arial MT Pro"/>
              </a:rPr>
              <a:t>The goal is to build a predictive system that can estimate life expectancy based on these factors and identify the most important drivers behind global differences.</a:t>
            </a:r>
          </a:p>
        </p:txBody>
      </p:sp>
      <p:sp>
        <p:nvSpPr>
          <p:cNvPr id="6" name="Rectangle 5"/>
          <p:cNvSpPr/>
          <p:nvPr/>
        </p:nvSpPr>
        <p:spPr>
          <a:xfrm>
            <a:off x="0" y="0"/>
            <a:ext cx="18288000" cy="10287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39267" y="3711636"/>
            <a:ext cx="6227968" cy="4495461"/>
          </a:xfrm>
          <a:custGeom>
            <a:avLst/>
            <a:gdLst/>
            <a:ahLst/>
            <a:cxnLst/>
            <a:rect l="l" t="t" r="r" b="b"/>
            <a:pathLst>
              <a:path w="6227968" h="4495461">
                <a:moveTo>
                  <a:pt x="0" y="0"/>
                </a:moveTo>
                <a:lnTo>
                  <a:pt x="6227968" y="0"/>
                </a:lnTo>
                <a:lnTo>
                  <a:pt x="6227968" y="4495461"/>
                </a:lnTo>
                <a:lnTo>
                  <a:pt x="0" y="449546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7069107" y="3711636"/>
            <a:ext cx="11218893" cy="5118088"/>
          </a:xfrm>
          <a:custGeom>
            <a:avLst/>
            <a:gdLst/>
            <a:ahLst/>
            <a:cxnLst/>
            <a:rect l="l" t="t" r="r" b="b"/>
            <a:pathLst>
              <a:path w="11218893" h="5118088">
                <a:moveTo>
                  <a:pt x="0" y="0"/>
                </a:moveTo>
                <a:lnTo>
                  <a:pt x="11218893" y="0"/>
                </a:lnTo>
                <a:lnTo>
                  <a:pt x="11218893" y="5118088"/>
                </a:lnTo>
                <a:lnTo>
                  <a:pt x="0" y="5118088"/>
                </a:lnTo>
                <a:lnTo>
                  <a:pt x="0" y="0"/>
                </a:lnTo>
                <a:close/>
              </a:path>
            </a:pathLst>
          </a:custGeom>
          <a:blipFill>
            <a:blip r:embed="rId4"/>
            <a:stretch>
              <a:fillRect l="-1062" r="-334"/>
            </a:stretch>
          </a:blipFill>
        </p:spPr>
      </p:sp>
      <p:sp>
        <p:nvSpPr>
          <p:cNvPr id="4" name="TextBox 4"/>
          <p:cNvSpPr txBox="1"/>
          <p:nvPr/>
        </p:nvSpPr>
        <p:spPr>
          <a:xfrm>
            <a:off x="1732039" y="495360"/>
            <a:ext cx="8312264" cy="1698626"/>
          </a:xfrm>
          <a:prstGeom prst="rect">
            <a:avLst/>
          </a:prstGeom>
        </p:spPr>
        <p:txBody>
          <a:bodyPr lIns="0" tIns="0" rIns="0" bIns="0" rtlCol="0" anchor="t">
            <a:spAutoFit/>
          </a:bodyPr>
          <a:lstStyle/>
          <a:p>
            <a:pPr algn="l">
              <a:lnSpc>
                <a:spcPts val="13999"/>
              </a:lnSpc>
            </a:pPr>
            <a:r>
              <a:rPr lang="en-US" sz="9999" b="1">
                <a:solidFill>
                  <a:srgbClr val="1F1F1F"/>
                </a:solidFill>
                <a:latin typeface="Montserrat Bold"/>
                <a:ea typeface="Montserrat Bold"/>
                <a:cs typeface="Montserrat Bold"/>
                <a:sym typeface="Montserrat Bold"/>
              </a:rPr>
              <a:t>Dataset</a:t>
            </a:r>
          </a:p>
        </p:txBody>
      </p:sp>
      <p:sp>
        <p:nvSpPr>
          <p:cNvPr id="5" name="TextBox 5"/>
          <p:cNvSpPr txBox="1"/>
          <p:nvPr/>
        </p:nvSpPr>
        <p:spPr>
          <a:xfrm>
            <a:off x="7285290" y="495360"/>
            <a:ext cx="7929906" cy="1698626"/>
          </a:xfrm>
          <a:prstGeom prst="rect">
            <a:avLst/>
          </a:prstGeom>
        </p:spPr>
        <p:txBody>
          <a:bodyPr lIns="0" tIns="0" rIns="0" bIns="0" rtlCol="0" anchor="t">
            <a:spAutoFit/>
          </a:bodyPr>
          <a:lstStyle/>
          <a:p>
            <a:pPr algn="l">
              <a:lnSpc>
                <a:spcPts val="13999"/>
              </a:lnSpc>
            </a:pPr>
            <a:r>
              <a:rPr lang="en-US" sz="9999" b="1" dirty="0">
                <a:solidFill>
                  <a:srgbClr val="308298"/>
                </a:solidFill>
                <a:latin typeface="Montserrat Bold"/>
                <a:ea typeface="Montserrat Bold"/>
                <a:cs typeface="Montserrat Bold"/>
                <a:sym typeface="Montserrat Bold"/>
              </a:rPr>
              <a:t>Description</a:t>
            </a:r>
          </a:p>
        </p:txBody>
      </p:sp>
      <p:sp>
        <p:nvSpPr>
          <p:cNvPr id="6" name="Rectangle 5"/>
          <p:cNvSpPr/>
          <p:nvPr/>
        </p:nvSpPr>
        <p:spPr>
          <a:xfrm>
            <a:off x="0" y="0"/>
            <a:ext cx="18288000" cy="10287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764569" y="411984"/>
            <a:ext cx="4120112" cy="4212011"/>
          </a:xfrm>
          <a:custGeom>
            <a:avLst/>
            <a:gdLst/>
            <a:ahLst/>
            <a:cxnLst/>
            <a:rect l="l" t="t" r="r" b="b"/>
            <a:pathLst>
              <a:path w="4120112" h="4212011">
                <a:moveTo>
                  <a:pt x="0" y="0"/>
                </a:moveTo>
                <a:lnTo>
                  <a:pt x="4120112" y="0"/>
                </a:lnTo>
                <a:lnTo>
                  <a:pt x="4120112" y="4212011"/>
                </a:lnTo>
                <a:lnTo>
                  <a:pt x="0" y="421201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276341" y="4623995"/>
            <a:ext cx="8691870" cy="4358986"/>
          </a:xfrm>
          <a:custGeom>
            <a:avLst/>
            <a:gdLst/>
            <a:ahLst/>
            <a:cxnLst/>
            <a:rect l="l" t="t" r="r" b="b"/>
            <a:pathLst>
              <a:path w="8691870" h="4358986">
                <a:moveTo>
                  <a:pt x="0" y="0"/>
                </a:moveTo>
                <a:lnTo>
                  <a:pt x="8691870" y="0"/>
                </a:lnTo>
                <a:lnTo>
                  <a:pt x="8691870" y="4358986"/>
                </a:lnTo>
                <a:lnTo>
                  <a:pt x="0" y="4358986"/>
                </a:lnTo>
                <a:lnTo>
                  <a:pt x="0" y="0"/>
                </a:lnTo>
                <a:close/>
              </a:path>
            </a:pathLst>
          </a:custGeom>
          <a:blipFill>
            <a:blip r:embed="rId4"/>
            <a:stretch>
              <a:fillRect/>
            </a:stretch>
          </a:blipFill>
        </p:spPr>
      </p:sp>
      <p:sp>
        <p:nvSpPr>
          <p:cNvPr id="4" name="Freeform 4"/>
          <p:cNvSpPr/>
          <p:nvPr/>
        </p:nvSpPr>
        <p:spPr>
          <a:xfrm>
            <a:off x="9144000" y="4623995"/>
            <a:ext cx="8801801" cy="4163223"/>
          </a:xfrm>
          <a:custGeom>
            <a:avLst/>
            <a:gdLst/>
            <a:ahLst/>
            <a:cxnLst/>
            <a:rect l="l" t="t" r="r" b="b"/>
            <a:pathLst>
              <a:path w="8801801" h="4163223">
                <a:moveTo>
                  <a:pt x="0" y="0"/>
                </a:moveTo>
                <a:lnTo>
                  <a:pt x="8801801" y="0"/>
                </a:lnTo>
                <a:lnTo>
                  <a:pt x="8801801" y="4163223"/>
                </a:lnTo>
                <a:lnTo>
                  <a:pt x="0" y="4163223"/>
                </a:lnTo>
                <a:lnTo>
                  <a:pt x="0" y="0"/>
                </a:lnTo>
                <a:close/>
              </a:path>
            </a:pathLst>
          </a:custGeom>
          <a:blipFill>
            <a:blip r:embed="rId5"/>
            <a:stretch>
              <a:fillRect l="-1745" t="-14761" r="-2981"/>
            </a:stretch>
          </a:blipFill>
        </p:spPr>
      </p:sp>
      <p:sp>
        <p:nvSpPr>
          <p:cNvPr id="5" name="TextBox 5"/>
          <p:cNvSpPr txBox="1"/>
          <p:nvPr/>
        </p:nvSpPr>
        <p:spPr>
          <a:xfrm>
            <a:off x="2534896" y="539367"/>
            <a:ext cx="8312264" cy="1698626"/>
          </a:xfrm>
          <a:prstGeom prst="rect">
            <a:avLst/>
          </a:prstGeom>
        </p:spPr>
        <p:txBody>
          <a:bodyPr lIns="0" tIns="0" rIns="0" bIns="0" rtlCol="0" anchor="t">
            <a:spAutoFit/>
          </a:bodyPr>
          <a:lstStyle/>
          <a:p>
            <a:pPr algn="l">
              <a:lnSpc>
                <a:spcPts val="13999"/>
              </a:lnSpc>
            </a:pPr>
            <a:r>
              <a:rPr lang="en-US" sz="9999" b="1">
                <a:solidFill>
                  <a:srgbClr val="1F1F1F"/>
                </a:solidFill>
                <a:latin typeface="Montserrat Bold"/>
                <a:ea typeface="Montserrat Bold"/>
                <a:cs typeface="Montserrat Bold"/>
                <a:sym typeface="Montserrat Bold"/>
              </a:rPr>
              <a:t>Finding</a:t>
            </a:r>
          </a:p>
        </p:txBody>
      </p:sp>
      <p:sp>
        <p:nvSpPr>
          <p:cNvPr id="6" name="TextBox 6"/>
          <p:cNvSpPr txBox="1"/>
          <p:nvPr/>
        </p:nvSpPr>
        <p:spPr>
          <a:xfrm>
            <a:off x="1497182" y="2066543"/>
            <a:ext cx="9978966" cy="1583051"/>
          </a:xfrm>
          <a:prstGeom prst="rect">
            <a:avLst/>
          </a:prstGeom>
        </p:spPr>
        <p:txBody>
          <a:bodyPr lIns="0" tIns="0" rIns="0" bIns="0" rtlCol="0" anchor="t">
            <a:spAutoFit/>
          </a:bodyPr>
          <a:lstStyle/>
          <a:p>
            <a:pPr algn="l">
              <a:lnSpc>
                <a:spcPts val="13020"/>
              </a:lnSpc>
            </a:pPr>
            <a:r>
              <a:rPr lang="en-US" sz="9300" b="1" dirty="0">
                <a:solidFill>
                  <a:srgbClr val="2E7D92"/>
                </a:solidFill>
                <a:latin typeface="Montserrat Bold"/>
                <a:ea typeface="Montserrat Bold"/>
                <a:cs typeface="Montserrat Bold"/>
                <a:sym typeface="Montserrat Bold"/>
              </a:rPr>
              <a:t>Missing Data</a:t>
            </a:r>
          </a:p>
        </p:txBody>
      </p:sp>
      <p:sp>
        <p:nvSpPr>
          <p:cNvPr id="7" name="Rectangle 6"/>
          <p:cNvSpPr/>
          <p:nvPr/>
        </p:nvSpPr>
        <p:spPr>
          <a:xfrm>
            <a:off x="0" y="0"/>
            <a:ext cx="18288000" cy="10287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5214" y="3792297"/>
            <a:ext cx="9893136" cy="5562233"/>
          </a:xfrm>
          <a:custGeom>
            <a:avLst/>
            <a:gdLst/>
            <a:ahLst/>
            <a:cxnLst/>
            <a:rect l="l" t="t" r="r" b="b"/>
            <a:pathLst>
              <a:path w="9893136" h="5562233">
                <a:moveTo>
                  <a:pt x="0" y="0"/>
                </a:moveTo>
                <a:lnTo>
                  <a:pt x="9893136" y="0"/>
                </a:lnTo>
                <a:lnTo>
                  <a:pt x="9893136" y="5562232"/>
                </a:lnTo>
                <a:lnTo>
                  <a:pt x="0" y="5562232"/>
                </a:lnTo>
                <a:lnTo>
                  <a:pt x="0" y="0"/>
                </a:lnTo>
                <a:close/>
              </a:path>
            </a:pathLst>
          </a:custGeom>
          <a:blipFill>
            <a:blip r:embed="rId2"/>
            <a:stretch>
              <a:fillRect l="-320" r="-342"/>
            </a:stretch>
          </a:blipFill>
        </p:spPr>
      </p:sp>
      <p:sp>
        <p:nvSpPr>
          <p:cNvPr id="3" name="Freeform 3"/>
          <p:cNvSpPr/>
          <p:nvPr/>
        </p:nvSpPr>
        <p:spPr>
          <a:xfrm>
            <a:off x="10538351" y="3503493"/>
            <a:ext cx="7749650" cy="6422286"/>
          </a:xfrm>
          <a:custGeom>
            <a:avLst/>
            <a:gdLst/>
            <a:ahLst/>
            <a:cxnLst/>
            <a:rect l="l" t="t" r="r" b="b"/>
            <a:pathLst>
              <a:path w="8284619" h="6422286">
                <a:moveTo>
                  <a:pt x="0" y="0"/>
                </a:moveTo>
                <a:lnTo>
                  <a:pt x="8284620" y="0"/>
                </a:lnTo>
                <a:lnTo>
                  <a:pt x="8284620" y="6422286"/>
                </a:lnTo>
                <a:lnTo>
                  <a:pt x="0" y="6422286"/>
                </a:lnTo>
                <a:lnTo>
                  <a:pt x="0" y="0"/>
                </a:lnTo>
                <a:close/>
              </a:path>
            </a:pathLst>
          </a:custGeom>
          <a:blipFill>
            <a:blip r:embed="rId3"/>
            <a:stretch>
              <a:fillRect t="-3235" b="-2016"/>
            </a:stretch>
          </a:blipFill>
        </p:spPr>
      </p:sp>
      <p:sp>
        <p:nvSpPr>
          <p:cNvPr id="4" name="TextBox 4"/>
          <p:cNvSpPr txBox="1"/>
          <p:nvPr/>
        </p:nvSpPr>
        <p:spPr>
          <a:xfrm>
            <a:off x="345440" y="501992"/>
            <a:ext cx="13728161" cy="1698626"/>
          </a:xfrm>
          <a:prstGeom prst="rect">
            <a:avLst/>
          </a:prstGeom>
        </p:spPr>
        <p:txBody>
          <a:bodyPr lIns="0" tIns="0" rIns="0" bIns="0" rtlCol="0" anchor="t">
            <a:spAutoFit/>
          </a:bodyPr>
          <a:lstStyle/>
          <a:p>
            <a:pPr algn="l">
              <a:lnSpc>
                <a:spcPts val="13999"/>
              </a:lnSpc>
            </a:pPr>
            <a:r>
              <a:rPr lang="en-US" sz="9999" b="1" dirty="0">
                <a:solidFill>
                  <a:srgbClr val="1F1F1F"/>
                </a:solidFill>
                <a:latin typeface="Montserrat Bold"/>
                <a:ea typeface="Montserrat Bold"/>
                <a:cs typeface="Montserrat Bold"/>
                <a:sym typeface="Montserrat Bold"/>
              </a:rPr>
              <a:t>Outlier Detection</a:t>
            </a:r>
          </a:p>
        </p:txBody>
      </p:sp>
      <p:sp>
        <p:nvSpPr>
          <p:cNvPr id="5" name="TextBox 5"/>
          <p:cNvSpPr txBox="1"/>
          <p:nvPr/>
        </p:nvSpPr>
        <p:spPr>
          <a:xfrm>
            <a:off x="2376405" y="1994242"/>
            <a:ext cx="11697196" cy="1226805"/>
          </a:xfrm>
          <a:prstGeom prst="rect">
            <a:avLst/>
          </a:prstGeom>
        </p:spPr>
        <p:txBody>
          <a:bodyPr lIns="0" tIns="0" rIns="0" bIns="0" rtlCol="0" anchor="t">
            <a:spAutoFit/>
          </a:bodyPr>
          <a:lstStyle/>
          <a:p>
            <a:pPr algn="l">
              <a:lnSpc>
                <a:spcPts val="10080"/>
              </a:lnSpc>
            </a:pPr>
            <a:r>
              <a:rPr lang="en-US" sz="7200" b="1" dirty="0">
                <a:solidFill>
                  <a:srgbClr val="308298"/>
                </a:solidFill>
                <a:latin typeface="Montserrat Bold"/>
                <a:ea typeface="Montserrat Bold"/>
                <a:cs typeface="Montserrat Bold"/>
                <a:sym typeface="Montserrat Bold"/>
              </a:rPr>
              <a:t>Before Cleaning</a:t>
            </a:r>
          </a:p>
        </p:txBody>
      </p:sp>
      <p:sp>
        <p:nvSpPr>
          <p:cNvPr id="6" name="Freeform 6"/>
          <p:cNvSpPr/>
          <p:nvPr/>
        </p:nvSpPr>
        <p:spPr>
          <a:xfrm>
            <a:off x="13273507" y="407312"/>
            <a:ext cx="2829167" cy="2813735"/>
          </a:xfrm>
          <a:custGeom>
            <a:avLst/>
            <a:gdLst/>
            <a:ahLst/>
            <a:cxnLst/>
            <a:rect l="l" t="t" r="r" b="b"/>
            <a:pathLst>
              <a:path w="2829167" h="2813735">
                <a:moveTo>
                  <a:pt x="0" y="0"/>
                </a:moveTo>
                <a:lnTo>
                  <a:pt x="2829166" y="0"/>
                </a:lnTo>
                <a:lnTo>
                  <a:pt x="2829166" y="2813735"/>
                </a:lnTo>
                <a:lnTo>
                  <a:pt x="0" y="28137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Rectangle 6"/>
          <p:cNvSpPr/>
          <p:nvPr/>
        </p:nvSpPr>
        <p:spPr>
          <a:xfrm>
            <a:off x="0" y="0"/>
            <a:ext cx="18288000" cy="10287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3914" y="2308280"/>
            <a:ext cx="18000173" cy="6950020"/>
          </a:xfrm>
          <a:custGeom>
            <a:avLst/>
            <a:gdLst/>
            <a:ahLst/>
            <a:cxnLst/>
            <a:rect l="l" t="t" r="r" b="b"/>
            <a:pathLst>
              <a:path w="18000173" h="6950020">
                <a:moveTo>
                  <a:pt x="0" y="0"/>
                </a:moveTo>
                <a:lnTo>
                  <a:pt x="18000172" y="0"/>
                </a:lnTo>
                <a:lnTo>
                  <a:pt x="18000172" y="6950020"/>
                </a:lnTo>
                <a:lnTo>
                  <a:pt x="0" y="6950020"/>
                </a:lnTo>
                <a:lnTo>
                  <a:pt x="0" y="0"/>
                </a:lnTo>
                <a:close/>
              </a:path>
            </a:pathLst>
          </a:custGeom>
          <a:blipFill>
            <a:blip r:embed="rId2"/>
            <a:stretch>
              <a:fillRect l="-10761" r="-3088"/>
            </a:stretch>
          </a:blipFill>
        </p:spPr>
      </p:sp>
      <p:sp>
        <p:nvSpPr>
          <p:cNvPr id="3" name="TextBox 3"/>
          <p:cNvSpPr txBox="1"/>
          <p:nvPr/>
        </p:nvSpPr>
        <p:spPr>
          <a:xfrm>
            <a:off x="640341" y="492510"/>
            <a:ext cx="10960147" cy="1500498"/>
          </a:xfrm>
          <a:prstGeom prst="rect">
            <a:avLst/>
          </a:prstGeom>
        </p:spPr>
        <p:txBody>
          <a:bodyPr lIns="0" tIns="0" rIns="0" bIns="0" rtlCol="0" anchor="t">
            <a:spAutoFit/>
          </a:bodyPr>
          <a:lstStyle/>
          <a:p>
            <a:pPr algn="l">
              <a:lnSpc>
                <a:spcPts val="12320"/>
              </a:lnSpc>
            </a:pPr>
            <a:r>
              <a:rPr lang="en-US" sz="8800" b="1">
                <a:solidFill>
                  <a:srgbClr val="1F1F1F"/>
                </a:solidFill>
                <a:latin typeface="Montserrat Bold"/>
                <a:ea typeface="Montserrat Bold"/>
                <a:cs typeface="Montserrat Bold"/>
                <a:sym typeface="Montserrat Bold"/>
              </a:rPr>
              <a:t>Life Expectancy</a:t>
            </a:r>
          </a:p>
        </p:txBody>
      </p:sp>
      <p:sp>
        <p:nvSpPr>
          <p:cNvPr id="4" name="TextBox 4"/>
          <p:cNvSpPr txBox="1"/>
          <p:nvPr/>
        </p:nvSpPr>
        <p:spPr>
          <a:xfrm>
            <a:off x="10280222" y="568078"/>
            <a:ext cx="8491553" cy="1424930"/>
          </a:xfrm>
          <a:prstGeom prst="rect">
            <a:avLst/>
          </a:prstGeom>
        </p:spPr>
        <p:txBody>
          <a:bodyPr lIns="0" tIns="0" rIns="0" bIns="0" rtlCol="0" anchor="t">
            <a:spAutoFit/>
          </a:bodyPr>
          <a:lstStyle/>
          <a:p>
            <a:pPr algn="l">
              <a:lnSpc>
                <a:spcPts val="11760"/>
              </a:lnSpc>
            </a:pPr>
            <a:r>
              <a:rPr lang="en-US" sz="8400" b="1" dirty="0">
                <a:solidFill>
                  <a:srgbClr val="2E7D92"/>
                </a:solidFill>
                <a:latin typeface="Montserrat Bold"/>
                <a:ea typeface="Montserrat Bold"/>
                <a:cs typeface="Montserrat Bold"/>
                <a:sym typeface="Montserrat Bold"/>
              </a:rPr>
              <a:t>Distribution</a:t>
            </a:r>
          </a:p>
        </p:txBody>
      </p:sp>
      <p:sp>
        <p:nvSpPr>
          <p:cNvPr id="5" name="Rectangle 4"/>
          <p:cNvSpPr/>
          <p:nvPr/>
        </p:nvSpPr>
        <p:spPr>
          <a:xfrm>
            <a:off x="0" y="0"/>
            <a:ext cx="18288000" cy="10287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63331" y="355719"/>
            <a:ext cx="4110254" cy="3960790"/>
          </a:xfrm>
          <a:custGeom>
            <a:avLst/>
            <a:gdLst/>
            <a:ahLst/>
            <a:cxnLst/>
            <a:rect l="l" t="t" r="r" b="b"/>
            <a:pathLst>
              <a:path w="4110254" h="3960790">
                <a:moveTo>
                  <a:pt x="0" y="0"/>
                </a:moveTo>
                <a:lnTo>
                  <a:pt x="4110254" y="0"/>
                </a:lnTo>
                <a:lnTo>
                  <a:pt x="4110254" y="3960790"/>
                </a:lnTo>
                <a:lnTo>
                  <a:pt x="0" y="396079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457148" y="3848100"/>
            <a:ext cx="17373703" cy="6062868"/>
          </a:xfrm>
          <a:custGeom>
            <a:avLst/>
            <a:gdLst/>
            <a:ahLst/>
            <a:cxnLst/>
            <a:rect l="l" t="t" r="r" b="b"/>
            <a:pathLst>
              <a:path w="17373703" h="6062868">
                <a:moveTo>
                  <a:pt x="0" y="0"/>
                </a:moveTo>
                <a:lnTo>
                  <a:pt x="17373704" y="0"/>
                </a:lnTo>
                <a:lnTo>
                  <a:pt x="17373704" y="6062868"/>
                </a:lnTo>
                <a:lnTo>
                  <a:pt x="0" y="6062868"/>
                </a:lnTo>
                <a:lnTo>
                  <a:pt x="0" y="0"/>
                </a:lnTo>
                <a:close/>
              </a:path>
            </a:pathLst>
          </a:custGeom>
          <a:blipFill>
            <a:blip r:embed="rId4"/>
            <a:stretch>
              <a:fillRect/>
            </a:stretch>
          </a:blipFill>
        </p:spPr>
      </p:sp>
      <p:sp>
        <p:nvSpPr>
          <p:cNvPr id="4" name="TextBox 4"/>
          <p:cNvSpPr txBox="1"/>
          <p:nvPr/>
        </p:nvSpPr>
        <p:spPr>
          <a:xfrm>
            <a:off x="457148" y="479188"/>
            <a:ext cx="12670619" cy="1609087"/>
          </a:xfrm>
          <a:prstGeom prst="rect">
            <a:avLst/>
          </a:prstGeom>
        </p:spPr>
        <p:txBody>
          <a:bodyPr lIns="0" tIns="0" rIns="0" bIns="0" rtlCol="0" anchor="t">
            <a:spAutoFit/>
          </a:bodyPr>
          <a:lstStyle/>
          <a:p>
            <a:pPr algn="l">
              <a:lnSpc>
                <a:spcPts val="13160"/>
              </a:lnSpc>
            </a:pPr>
            <a:r>
              <a:rPr lang="en-US" sz="9400" b="1">
                <a:solidFill>
                  <a:srgbClr val="1F1F1F"/>
                </a:solidFill>
                <a:latin typeface="Montserrat Bold"/>
                <a:ea typeface="Montserrat Bold"/>
                <a:cs typeface="Montserrat Bold"/>
                <a:sym typeface="Montserrat Bold"/>
              </a:rPr>
              <a:t>Data Cleaning &amp; </a:t>
            </a:r>
          </a:p>
        </p:txBody>
      </p:sp>
      <p:sp>
        <p:nvSpPr>
          <p:cNvPr id="5" name="TextBox 5"/>
          <p:cNvSpPr txBox="1"/>
          <p:nvPr/>
        </p:nvSpPr>
        <p:spPr>
          <a:xfrm>
            <a:off x="2116087" y="1907299"/>
            <a:ext cx="8492523" cy="1609087"/>
          </a:xfrm>
          <a:prstGeom prst="rect">
            <a:avLst/>
          </a:prstGeom>
        </p:spPr>
        <p:txBody>
          <a:bodyPr lIns="0" tIns="0" rIns="0" bIns="0" rtlCol="0" anchor="t">
            <a:spAutoFit/>
          </a:bodyPr>
          <a:lstStyle/>
          <a:p>
            <a:pPr marL="0" lvl="0" indent="0" algn="l">
              <a:lnSpc>
                <a:spcPts val="13160"/>
              </a:lnSpc>
              <a:spcBef>
                <a:spcPct val="0"/>
              </a:spcBef>
            </a:pPr>
            <a:r>
              <a:rPr lang="en-US" sz="9400" b="1" u="none" strike="noStrike" dirty="0">
                <a:solidFill>
                  <a:srgbClr val="308298"/>
                </a:solidFill>
                <a:latin typeface="Montserrat Bold"/>
                <a:ea typeface="Montserrat Bold"/>
                <a:cs typeface="Montserrat Bold"/>
                <a:sym typeface="Montserrat Bold"/>
              </a:rPr>
              <a:t>Preparation</a:t>
            </a:r>
          </a:p>
        </p:txBody>
      </p:sp>
      <p:sp>
        <p:nvSpPr>
          <p:cNvPr id="6" name="Rectangle 5"/>
          <p:cNvSpPr/>
          <p:nvPr/>
        </p:nvSpPr>
        <p:spPr>
          <a:xfrm>
            <a:off x="0" y="0"/>
            <a:ext cx="18288000" cy="10287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657320" y="4865380"/>
            <a:ext cx="3776383" cy="3055437"/>
          </a:xfrm>
          <a:custGeom>
            <a:avLst/>
            <a:gdLst/>
            <a:ahLst/>
            <a:cxnLst/>
            <a:rect l="l" t="t" r="r" b="b"/>
            <a:pathLst>
              <a:path w="3776383" h="3055437">
                <a:moveTo>
                  <a:pt x="0" y="0"/>
                </a:moveTo>
                <a:lnTo>
                  <a:pt x="3776383" y="0"/>
                </a:lnTo>
                <a:lnTo>
                  <a:pt x="3776383" y="3055436"/>
                </a:lnTo>
                <a:lnTo>
                  <a:pt x="0" y="305543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0" y="4411482"/>
            <a:ext cx="18288000" cy="5241600"/>
          </a:xfrm>
          <a:custGeom>
            <a:avLst/>
            <a:gdLst/>
            <a:ahLst/>
            <a:cxnLst/>
            <a:rect l="l" t="t" r="r" b="b"/>
            <a:pathLst>
              <a:path w="18288000" h="5241600">
                <a:moveTo>
                  <a:pt x="0" y="0"/>
                </a:moveTo>
                <a:lnTo>
                  <a:pt x="18288000" y="0"/>
                </a:lnTo>
                <a:lnTo>
                  <a:pt x="18288000" y="5241600"/>
                </a:lnTo>
                <a:lnTo>
                  <a:pt x="0" y="5241600"/>
                </a:lnTo>
                <a:lnTo>
                  <a:pt x="0" y="0"/>
                </a:lnTo>
                <a:close/>
              </a:path>
            </a:pathLst>
          </a:custGeom>
          <a:blipFill>
            <a:blip r:embed="rId4"/>
            <a:stretch>
              <a:fillRect/>
            </a:stretch>
          </a:blipFill>
        </p:spPr>
      </p:sp>
      <p:sp>
        <p:nvSpPr>
          <p:cNvPr id="4" name="TextBox 4"/>
          <p:cNvSpPr txBox="1"/>
          <p:nvPr/>
        </p:nvSpPr>
        <p:spPr>
          <a:xfrm>
            <a:off x="677401" y="866775"/>
            <a:ext cx="13736221" cy="4001324"/>
          </a:xfrm>
          <a:prstGeom prst="rect">
            <a:avLst/>
          </a:prstGeom>
        </p:spPr>
        <p:txBody>
          <a:bodyPr lIns="0" tIns="0" rIns="0" bIns="0" rtlCol="0" anchor="t">
            <a:spAutoFit/>
          </a:bodyPr>
          <a:lstStyle/>
          <a:p>
            <a:pPr algn="l">
              <a:lnSpc>
                <a:spcPts val="12029"/>
              </a:lnSpc>
            </a:pPr>
            <a:r>
              <a:rPr lang="en-US" sz="8592" b="1">
                <a:solidFill>
                  <a:srgbClr val="1F1F1F"/>
                </a:solidFill>
                <a:latin typeface="Montserrat Bold"/>
                <a:ea typeface="Montserrat Bold"/>
                <a:cs typeface="Montserrat Bold"/>
                <a:sym typeface="Montserrat Bold"/>
              </a:rPr>
              <a:t> Model Accuracy          </a:t>
            </a:r>
          </a:p>
          <a:p>
            <a:pPr algn="l">
              <a:lnSpc>
                <a:spcPts val="9929"/>
              </a:lnSpc>
            </a:pPr>
            <a:r>
              <a:rPr lang="en-US" sz="7092" b="1">
                <a:solidFill>
                  <a:srgbClr val="1F1F1F"/>
                </a:solidFill>
                <a:latin typeface="Montserrat Bold"/>
                <a:ea typeface="Montserrat Bold"/>
                <a:cs typeface="Montserrat Bold"/>
                <a:sym typeface="Montserrat Bold"/>
              </a:rPr>
              <a:t>       </a:t>
            </a:r>
          </a:p>
          <a:p>
            <a:pPr algn="l">
              <a:lnSpc>
                <a:spcPts val="9929"/>
              </a:lnSpc>
            </a:pPr>
            <a:endParaRPr lang="en-US" sz="7092" b="1">
              <a:solidFill>
                <a:srgbClr val="1F1F1F"/>
              </a:solidFill>
              <a:latin typeface="Montserrat Bold"/>
              <a:ea typeface="Montserrat Bold"/>
              <a:cs typeface="Montserrat Bold"/>
              <a:sym typeface="Montserrat Bold"/>
            </a:endParaRPr>
          </a:p>
        </p:txBody>
      </p:sp>
      <p:sp>
        <p:nvSpPr>
          <p:cNvPr id="5" name="TextBox 5"/>
          <p:cNvSpPr txBox="1"/>
          <p:nvPr/>
        </p:nvSpPr>
        <p:spPr>
          <a:xfrm>
            <a:off x="1477354" y="2380172"/>
            <a:ext cx="13736221" cy="2946591"/>
          </a:xfrm>
          <a:prstGeom prst="rect">
            <a:avLst/>
          </a:prstGeom>
        </p:spPr>
        <p:txBody>
          <a:bodyPr lIns="0" tIns="0" rIns="0" bIns="0" rtlCol="0" anchor="t">
            <a:spAutoFit/>
          </a:bodyPr>
          <a:lstStyle/>
          <a:p>
            <a:pPr algn="l">
              <a:lnSpc>
                <a:spcPts val="11889"/>
              </a:lnSpc>
            </a:pPr>
            <a:r>
              <a:rPr lang="en-US" sz="8492" b="1" dirty="0">
                <a:solidFill>
                  <a:srgbClr val="0075B2"/>
                </a:solidFill>
                <a:latin typeface="Montserrat Bold"/>
                <a:ea typeface="Montserrat Bold"/>
                <a:cs typeface="Montserrat Bold"/>
                <a:sym typeface="Montserrat Bold"/>
              </a:rPr>
              <a:t>   </a:t>
            </a:r>
            <a:r>
              <a:rPr lang="en-US" sz="8492" b="1" dirty="0">
                <a:solidFill>
                  <a:srgbClr val="2E7D92"/>
                </a:solidFill>
                <a:latin typeface="Montserrat Bold"/>
                <a:ea typeface="Montserrat Bold"/>
                <a:cs typeface="Montserrat Bold"/>
                <a:sym typeface="Montserrat Bold"/>
              </a:rPr>
              <a:t>Comparison</a:t>
            </a:r>
          </a:p>
          <a:p>
            <a:pPr algn="l">
              <a:lnSpc>
                <a:spcPts val="11889"/>
              </a:lnSpc>
            </a:pPr>
            <a:endParaRPr lang="en-US" sz="8492" b="1" dirty="0">
              <a:solidFill>
                <a:srgbClr val="0075B2"/>
              </a:solidFill>
              <a:latin typeface="Montserrat Bold"/>
              <a:ea typeface="Montserrat Bold"/>
              <a:cs typeface="Montserrat Bold"/>
              <a:sym typeface="Montserrat Bold"/>
            </a:endParaRPr>
          </a:p>
        </p:txBody>
      </p:sp>
      <p:sp>
        <p:nvSpPr>
          <p:cNvPr id="6" name="Freeform 6"/>
          <p:cNvSpPr/>
          <p:nvPr/>
        </p:nvSpPr>
        <p:spPr>
          <a:xfrm>
            <a:off x="11594961" y="720840"/>
            <a:ext cx="4126096" cy="3623463"/>
          </a:xfrm>
          <a:custGeom>
            <a:avLst/>
            <a:gdLst/>
            <a:ahLst/>
            <a:cxnLst/>
            <a:rect l="l" t="t" r="r" b="b"/>
            <a:pathLst>
              <a:path w="4126096" h="3623463">
                <a:moveTo>
                  <a:pt x="0" y="0"/>
                </a:moveTo>
                <a:lnTo>
                  <a:pt x="4126096" y="0"/>
                </a:lnTo>
                <a:lnTo>
                  <a:pt x="4126096" y="3623463"/>
                </a:lnTo>
                <a:lnTo>
                  <a:pt x="0" y="362346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Rectangle 6"/>
          <p:cNvSpPr/>
          <p:nvPr/>
        </p:nvSpPr>
        <p:spPr>
          <a:xfrm>
            <a:off x="0" y="0"/>
            <a:ext cx="18288000" cy="10287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820188" y="501531"/>
            <a:ext cx="4619523" cy="3636824"/>
          </a:xfrm>
          <a:custGeom>
            <a:avLst/>
            <a:gdLst/>
            <a:ahLst/>
            <a:cxnLst/>
            <a:rect l="l" t="t" r="r" b="b"/>
            <a:pathLst>
              <a:path w="4619523" h="3636824">
                <a:moveTo>
                  <a:pt x="0" y="0"/>
                </a:moveTo>
                <a:lnTo>
                  <a:pt x="4619522" y="0"/>
                </a:lnTo>
                <a:lnTo>
                  <a:pt x="4619522" y="3636825"/>
                </a:lnTo>
                <a:lnTo>
                  <a:pt x="0" y="363682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346065" y="3682886"/>
            <a:ext cx="17941935" cy="5984107"/>
          </a:xfrm>
          <a:custGeom>
            <a:avLst/>
            <a:gdLst/>
            <a:ahLst/>
            <a:cxnLst/>
            <a:rect l="l" t="t" r="r" b="b"/>
            <a:pathLst>
              <a:path w="17941935" h="5984107">
                <a:moveTo>
                  <a:pt x="0" y="0"/>
                </a:moveTo>
                <a:lnTo>
                  <a:pt x="17941935" y="0"/>
                </a:lnTo>
                <a:lnTo>
                  <a:pt x="17941935" y="5984106"/>
                </a:lnTo>
                <a:lnTo>
                  <a:pt x="0" y="5984106"/>
                </a:lnTo>
                <a:lnTo>
                  <a:pt x="0" y="0"/>
                </a:lnTo>
                <a:close/>
              </a:path>
            </a:pathLst>
          </a:custGeom>
          <a:blipFill>
            <a:blip r:embed="rId4"/>
            <a:stretch>
              <a:fillRect t="-519" b="-519"/>
            </a:stretch>
          </a:blipFill>
        </p:spPr>
      </p:sp>
      <p:sp>
        <p:nvSpPr>
          <p:cNvPr id="4" name="TextBox 4"/>
          <p:cNvSpPr txBox="1"/>
          <p:nvPr/>
        </p:nvSpPr>
        <p:spPr>
          <a:xfrm>
            <a:off x="1028700" y="349131"/>
            <a:ext cx="9238080" cy="1368413"/>
          </a:xfrm>
          <a:prstGeom prst="rect">
            <a:avLst/>
          </a:prstGeom>
        </p:spPr>
        <p:txBody>
          <a:bodyPr lIns="0" tIns="0" rIns="0" bIns="0" rtlCol="0" anchor="t">
            <a:spAutoFit/>
          </a:bodyPr>
          <a:lstStyle/>
          <a:p>
            <a:pPr algn="l">
              <a:lnSpc>
                <a:spcPts val="11200"/>
              </a:lnSpc>
            </a:pPr>
            <a:r>
              <a:rPr lang="en-US" sz="8000" b="1">
                <a:solidFill>
                  <a:srgbClr val="1F1F1F"/>
                </a:solidFill>
                <a:latin typeface="Montserrat Bold"/>
                <a:ea typeface="Montserrat Bold"/>
                <a:cs typeface="Montserrat Bold"/>
                <a:sym typeface="Montserrat Bold"/>
              </a:rPr>
              <a:t>Most Important</a:t>
            </a:r>
          </a:p>
        </p:txBody>
      </p:sp>
      <p:sp>
        <p:nvSpPr>
          <p:cNvPr id="5" name="TextBox 5"/>
          <p:cNvSpPr txBox="1"/>
          <p:nvPr/>
        </p:nvSpPr>
        <p:spPr>
          <a:xfrm>
            <a:off x="2728319" y="1565144"/>
            <a:ext cx="8492523" cy="1368413"/>
          </a:xfrm>
          <a:prstGeom prst="rect">
            <a:avLst/>
          </a:prstGeom>
        </p:spPr>
        <p:txBody>
          <a:bodyPr lIns="0" tIns="0" rIns="0" bIns="0" rtlCol="0" anchor="t">
            <a:spAutoFit/>
          </a:bodyPr>
          <a:lstStyle/>
          <a:p>
            <a:pPr algn="l">
              <a:lnSpc>
                <a:spcPts val="11200"/>
              </a:lnSpc>
            </a:pPr>
            <a:r>
              <a:rPr lang="en-US" sz="8000" b="1" dirty="0">
                <a:solidFill>
                  <a:srgbClr val="308298"/>
                </a:solidFill>
                <a:latin typeface="Montserrat Bold"/>
                <a:ea typeface="Montserrat Bold"/>
                <a:cs typeface="Montserrat Bold"/>
                <a:sym typeface="Montserrat Bold"/>
              </a:rPr>
              <a:t>Factors</a:t>
            </a:r>
          </a:p>
        </p:txBody>
      </p:sp>
      <p:sp>
        <p:nvSpPr>
          <p:cNvPr id="6" name="Rectangle 5"/>
          <p:cNvSpPr/>
          <p:nvPr/>
        </p:nvSpPr>
        <p:spPr>
          <a:xfrm>
            <a:off x="0" y="0"/>
            <a:ext cx="18288000" cy="10287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2447" y="2551113"/>
            <a:ext cx="17823106" cy="6707187"/>
          </a:xfrm>
          <a:custGeom>
            <a:avLst/>
            <a:gdLst/>
            <a:ahLst/>
            <a:cxnLst/>
            <a:rect l="l" t="t" r="r" b="b"/>
            <a:pathLst>
              <a:path w="17823106" h="6707187">
                <a:moveTo>
                  <a:pt x="0" y="0"/>
                </a:moveTo>
                <a:lnTo>
                  <a:pt x="17823106" y="0"/>
                </a:lnTo>
                <a:lnTo>
                  <a:pt x="17823106" y="6707187"/>
                </a:lnTo>
                <a:lnTo>
                  <a:pt x="0" y="6707187"/>
                </a:lnTo>
                <a:lnTo>
                  <a:pt x="0" y="0"/>
                </a:lnTo>
                <a:close/>
              </a:path>
            </a:pathLst>
          </a:custGeom>
          <a:blipFill>
            <a:blip r:embed="rId2"/>
            <a:stretch>
              <a:fillRect/>
            </a:stretch>
          </a:blipFill>
        </p:spPr>
      </p:sp>
      <p:sp>
        <p:nvSpPr>
          <p:cNvPr id="3" name="TextBox 3"/>
          <p:cNvSpPr txBox="1"/>
          <p:nvPr/>
        </p:nvSpPr>
        <p:spPr>
          <a:xfrm>
            <a:off x="708233" y="645573"/>
            <a:ext cx="18028421" cy="1295385"/>
          </a:xfrm>
          <a:prstGeom prst="rect">
            <a:avLst/>
          </a:prstGeom>
        </p:spPr>
        <p:txBody>
          <a:bodyPr lIns="0" tIns="0" rIns="0" bIns="0" rtlCol="0" anchor="t">
            <a:spAutoFit/>
          </a:bodyPr>
          <a:lstStyle/>
          <a:p>
            <a:pPr algn="l">
              <a:lnSpc>
                <a:spcPts val="10500"/>
              </a:lnSpc>
            </a:pPr>
            <a:r>
              <a:rPr lang="en-US" sz="7500" b="1" dirty="0">
                <a:solidFill>
                  <a:srgbClr val="1F1F1F"/>
                </a:solidFill>
                <a:latin typeface="Montserrat Bold"/>
                <a:ea typeface="Montserrat Bold"/>
                <a:cs typeface="Montserrat Bold"/>
                <a:sym typeface="Montserrat Bold"/>
              </a:rPr>
              <a:t>Real Values  vs. </a:t>
            </a:r>
            <a:r>
              <a:rPr lang="en-US" sz="7500" b="1" dirty="0">
                <a:solidFill>
                  <a:srgbClr val="2E7D92"/>
                </a:solidFill>
                <a:latin typeface="Montserrat Bold"/>
                <a:ea typeface="Montserrat Bold"/>
                <a:cs typeface="Montserrat Bold"/>
                <a:sym typeface="Montserrat Bold"/>
              </a:rPr>
              <a:t>Model Predictions</a:t>
            </a:r>
          </a:p>
        </p:txBody>
      </p:sp>
      <p:sp>
        <p:nvSpPr>
          <p:cNvPr id="4" name="Rectangle 3"/>
          <p:cNvSpPr/>
          <p:nvPr/>
        </p:nvSpPr>
        <p:spPr>
          <a:xfrm>
            <a:off x="0" y="0"/>
            <a:ext cx="18288000" cy="10287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637588" y="1393202"/>
            <a:ext cx="9752796" cy="1698626"/>
          </a:xfrm>
          <a:prstGeom prst="rect">
            <a:avLst/>
          </a:prstGeom>
        </p:spPr>
        <p:txBody>
          <a:bodyPr lIns="0" tIns="0" rIns="0" bIns="0" rtlCol="0" anchor="t">
            <a:spAutoFit/>
          </a:bodyPr>
          <a:lstStyle/>
          <a:p>
            <a:pPr algn="l">
              <a:lnSpc>
                <a:spcPts val="13999"/>
              </a:lnSpc>
            </a:pPr>
            <a:r>
              <a:rPr lang="en-US" sz="9999" b="1">
                <a:solidFill>
                  <a:srgbClr val="1F1F1F"/>
                </a:solidFill>
                <a:latin typeface="Montserrat Bold"/>
                <a:ea typeface="Montserrat Bold"/>
                <a:cs typeface="Montserrat Bold"/>
                <a:sym typeface="Montserrat Bold"/>
              </a:rPr>
              <a:t>Conclusion</a:t>
            </a:r>
          </a:p>
        </p:txBody>
      </p:sp>
      <p:sp>
        <p:nvSpPr>
          <p:cNvPr id="3" name="TextBox 3"/>
          <p:cNvSpPr txBox="1"/>
          <p:nvPr/>
        </p:nvSpPr>
        <p:spPr>
          <a:xfrm>
            <a:off x="688901" y="4378740"/>
            <a:ext cx="17599099" cy="5444023"/>
          </a:xfrm>
          <a:prstGeom prst="rect">
            <a:avLst/>
          </a:prstGeom>
        </p:spPr>
        <p:txBody>
          <a:bodyPr lIns="0" tIns="0" rIns="0" bIns="0" rtlCol="0" anchor="t">
            <a:spAutoFit/>
          </a:bodyPr>
          <a:lstStyle/>
          <a:p>
            <a:pPr algn="l">
              <a:lnSpc>
                <a:spcPts val="5441"/>
              </a:lnSpc>
            </a:pPr>
            <a:r>
              <a:rPr lang="en-US" sz="3443">
                <a:solidFill>
                  <a:srgbClr val="6B7280"/>
                </a:solidFill>
                <a:latin typeface="Inter"/>
                <a:ea typeface="Inter"/>
                <a:cs typeface="Inter"/>
                <a:sym typeface="Inter"/>
              </a:rPr>
              <a:t>The Random Forest model was selected as the final model due to its high accuracy and low error rates.</a:t>
            </a:r>
          </a:p>
          <a:p>
            <a:pPr algn="l">
              <a:lnSpc>
                <a:spcPts val="5441"/>
              </a:lnSpc>
            </a:pPr>
            <a:r>
              <a:rPr lang="en-US" sz="3443">
                <a:solidFill>
                  <a:srgbClr val="6B7280"/>
                </a:solidFill>
                <a:latin typeface="Inter"/>
                <a:ea typeface="Inter"/>
                <a:cs typeface="Inter"/>
                <a:sym typeface="Inter"/>
              </a:rPr>
              <a:t>Key findings show that life expectancy is strongly influenced by:</a:t>
            </a:r>
          </a:p>
          <a:p>
            <a:pPr marL="743537" lvl="1" indent="-371768" algn="just">
              <a:lnSpc>
                <a:spcPts val="5441"/>
              </a:lnSpc>
              <a:buFont typeface="Arial"/>
              <a:buChar char="•"/>
            </a:pPr>
            <a:r>
              <a:rPr lang="en-US" sz="3443" b="1">
                <a:solidFill>
                  <a:srgbClr val="6B7280"/>
                </a:solidFill>
                <a:latin typeface="Inter Bold"/>
                <a:ea typeface="Inter Bold"/>
                <a:cs typeface="Inter Bold"/>
                <a:sym typeface="Inter Bold"/>
              </a:rPr>
              <a:t>Disease prevalence (especially HIV/AIDS)</a:t>
            </a:r>
          </a:p>
          <a:p>
            <a:pPr marL="743537" lvl="1" indent="-371768" algn="just">
              <a:lnSpc>
                <a:spcPts val="5441"/>
              </a:lnSpc>
              <a:buFont typeface="Arial"/>
              <a:buChar char="•"/>
            </a:pPr>
            <a:r>
              <a:rPr lang="en-US" sz="3443" b="1">
                <a:solidFill>
                  <a:srgbClr val="6B7280"/>
                </a:solidFill>
                <a:latin typeface="Inter Bold"/>
                <a:ea typeface="Inter Bold"/>
                <a:cs typeface="Inter Bold"/>
                <a:sym typeface="Inter Bold"/>
              </a:rPr>
              <a:t>Income and education levels</a:t>
            </a:r>
          </a:p>
          <a:p>
            <a:pPr marL="743537" lvl="1" indent="-371768" algn="just">
              <a:lnSpc>
                <a:spcPts val="5441"/>
              </a:lnSpc>
              <a:buFont typeface="Arial"/>
              <a:buChar char="•"/>
            </a:pPr>
            <a:r>
              <a:rPr lang="en-US" sz="3443" b="1">
                <a:solidFill>
                  <a:srgbClr val="6B7280"/>
                </a:solidFill>
                <a:latin typeface="Inter Bold"/>
                <a:ea typeface="Inter Bold"/>
                <a:cs typeface="Inter Bold"/>
                <a:sym typeface="Inter Bold"/>
              </a:rPr>
              <a:t>Mortality rates</a:t>
            </a:r>
          </a:p>
          <a:p>
            <a:pPr algn="l">
              <a:lnSpc>
                <a:spcPts val="5441"/>
              </a:lnSpc>
            </a:pPr>
            <a:r>
              <a:rPr lang="en-US" sz="3443">
                <a:solidFill>
                  <a:srgbClr val="6B7280"/>
                </a:solidFill>
                <a:latin typeface="Inter"/>
                <a:ea typeface="Inter"/>
                <a:cs typeface="Inter"/>
                <a:sym typeface="Inter"/>
              </a:rPr>
              <a:t>The final model can be used to predict life expectancy and support global health analysis.</a:t>
            </a:r>
          </a:p>
        </p:txBody>
      </p:sp>
      <p:sp>
        <p:nvSpPr>
          <p:cNvPr id="4" name="Freeform 4"/>
          <p:cNvSpPr/>
          <p:nvPr/>
        </p:nvSpPr>
        <p:spPr>
          <a:xfrm>
            <a:off x="11855771" y="451859"/>
            <a:ext cx="3987008" cy="3762286"/>
          </a:xfrm>
          <a:custGeom>
            <a:avLst/>
            <a:gdLst/>
            <a:ahLst/>
            <a:cxnLst/>
            <a:rect l="l" t="t" r="r" b="b"/>
            <a:pathLst>
              <a:path w="3987008" h="3762286">
                <a:moveTo>
                  <a:pt x="0" y="0"/>
                </a:moveTo>
                <a:lnTo>
                  <a:pt x="3987009" y="0"/>
                </a:lnTo>
                <a:lnTo>
                  <a:pt x="3987009" y="3762286"/>
                </a:lnTo>
                <a:lnTo>
                  <a:pt x="0" y="376228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Rectangle 4"/>
          <p:cNvSpPr/>
          <p:nvPr/>
        </p:nvSpPr>
        <p:spPr>
          <a:xfrm>
            <a:off x="0" y="0"/>
            <a:ext cx="18288000" cy="10287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7905007" y="1028700"/>
            <a:ext cx="3776383" cy="3055437"/>
          </a:xfrm>
          <a:custGeom>
            <a:avLst/>
            <a:gdLst/>
            <a:ahLst/>
            <a:cxnLst/>
            <a:rect l="l" t="t" r="r" b="b"/>
            <a:pathLst>
              <a:path w="3776383" h="3055437">
                <a:moveTo>
                  <a:pt x="0" y="0"/>
                </a:moveTo>
                <a:lnTo>
                  <a:pt x="3776383" y="0"/>
                </a:lnTo>
                <a:lnTo>
                  <a:pt x="3776383" y="3055437"/>
                </a:lnTo>
                <a:lnTo>
                  <a:pt x="0" y="305543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8542469" y="1115581"/>
            <a:ext cx="7367430" cy="8055838"/>
          </a:xfrm>
          <a:custGeom>
            <a:avLst/>
            <a:gdLst/>
            <a:ahLst/>
            <a:cxnLst/>
            <a:rect l="l" t="t" r="r" b="b"/>
            <a:pathLst>
              <a:path w="7367430" h="8055838">
                <a:moveTo>
                  <a:pt x="0" y="0"/>
                </a:moveTo>
                <a:lnTo>
                  <a:pt x="7367430" y="0"/>
                </a:lnTo>
                <a:lnTo>
                  <a:pt x="7367430" y="8055838"/>
                </a:lnTo>
                <a:lnTo>
                  <a:pt x="0" y="805583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1480934" y="3047067"/>
            <a:ext cx="8312264" cy="2222501"/>
          </a:xfrm>
          <a:prstGeom prst="rect">
            <a:avLst/>
          </a:prstGeom>
        </p:spPr>
        <p:txBody>
          <a:bodyPr lIns="0" tIns="0" rIns="0" bIns="0" rtlCol="0" anchor="t">
            <a:spAutoFit/>
          </a:bodyPr>
          <a:lstStyle/>
          <a:p>
            <a:pPr algn="l">
              <a:lnSpc>
                <a:spcPts val="18199"/>
              </a:lnSpc>
            </a:pPr>
            <a:r>
              <a:rPr lang="en-US" sz="12999" b="1" dirty="0">
                <a:solidFill>
                  <a:srgbClr val="1F1F1F"/>
                </a:solidFill>
                <a:latin typeface="Montserrat Bold"/>
                <a:ea typeface="Montserrat Bold"/>
                <a:cs typeface="Montserrat Bold"/>
                <a:sym typeface="Montserrat Bold"/>
              </a:rPr>
              <a:t>Thank</a:t>
            </a:r>
          </a:p>
        </p:txBody>
      </p:sp>
      <p:sp>
        <p:nvSpPr>
          <p:cNvPr id="5" name="TextBox 5"/>
          <p:cNvSpPr txBox="1"/>
          <p:nvPr/>
        </p:nvSpPr>
        <p:spPr>
          <a:xfrm>
            <a:off x="2291640" y="4716108"/>
            <a:ext cx="9389750" cy="2222501"/>
          </a:xfrm>
          <a:prstGeom prst="rect">
            <a:avLst/>
          </a:prstGeom>
        </p:spPr>
        <p:txBody>
          <a:bodyPr lIns="0" tIns="0" rIns="0" bIns="0" rtlCol="0" anchor="t">
            <a:spAutoFit/>
          </a:bodyPr>
          <a:lstStyle/>
          <a:p>
            <a:pPr algn="l">
              <a:lnSpc>
                <a:spcPts val="18199"/>
              </a:lnSpc>
            </a:pPr>
            <a:r>
              <a:rPr lang="en-US" sz="12999" b="1" dirty="0">
                <a:solidFill>
                  <a:srgbClr val="308298"/>
                </a:solidFill>
                <a:latin typeface="Montserrat Bold"/>
                <a:ea typeface="Montserrat Bold"/>
                <a:cs typeface="Montserrat Bold"/>
                <a:sym typeface="Montserrat Bold"/>
              </a:rPr>
              <a:t>You</a:t>
            </a:r>
          </a:p>
        </p:txBody>
      </p:sp>
      <p:sp>
        <p:nvSpPr>
          <p:cNvPr id="6" name="Rectangle 5"/>
          <p:cNvSpPr/>
          <p:nvPr/>
        </p:nvSpPr>
        <p:spPr>
          <a:xfrm>
            <a:off x="0" y="0"/>
            <a:ext cx="18288000" cy="10287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182</Words>
  <Application>Microsoft Office PowerPoint</Application>
  <PresentationFormat>Custom</PresentationFormat>
  <Paragraphs>33</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Calibri</vt:lpstr>
      <vt:lpstr>Arial</vt:lpstr>
      <vt:lpstr>Arial MT Pro</vt:lpstr>
      <vt:lpstr>Inter</vt:lpstr>
      <vt:lpstr>Montserrat Bold</vt:lpstr>
      <vt:lpstr>Inter Bold</vt:lpstr>
      <vt:lpstr>Inter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 Expectancy Prediction</dc:title>
  <dc:creator>Ruby Sangwan</dc:creator>
  <cp:lastModifiedBy>Ruby Rani Ruby Rani</cp:lastModifiedBy>
  <cp:revision>7</cp:revision>
  <dcterms:created xsi:type="dcterms:W3CDTF">2006-08-16T00:00:00Z</dcterms:created>
  <dcterms:modified xsi:type="dcterms:W3CDTF">2026-06-04T21:13:40Z</dcterms:modified>
  <dc:identifier>DAHLoxNWegY</dc:identifier>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